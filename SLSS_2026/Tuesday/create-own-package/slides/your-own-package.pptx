
<file path=[Content_Types].xml><?xml version="1.0" encoding="utf-8"?>
<Types xmlns="http://schemas.openxmlformats.org/package/2006/content-types">
  <Default ContentType="image/jpeg" Extension="jpg"/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11.xml"/>
  <Override ContentType="application/vnd.openxmlformats-officedocument.presentationml.slide+xml" PartName="/ppt/slides/slide22.xml"/>
  <Override ContentType="application/vnd.openxmlformats-officedocument.presentationml.slide+xml" PartName="/ppt/slides/slide1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</p:sldIdLst>
  <p:sldSz cy="5143500" cx="9144000"/>
  <p:notesSz cx="6858000" cy="9144000"/>
  <p:embeddedFontLst>
    <p:embeddedFont>
      <p:font typeface="Roboto Mono"/>
      <p:regular r:id="rId29"/>
      <p:bold r:id="rId30"/>
      <p:italic r:id="rId31"/>
      <p:boldItalic r:id="rId3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B8C5D74C-0EB0-4D38-AA6F-B8191D18D5C3}">
  <a:tblStyle styleId="{B8C5D74C-0EB0-4D38-AA6F-B8191D18D5C3}" styleName="Table_0">
    <a:wholeTbl>
      <a:tcTxStyle>
        <a:font>
          <a:latin typeface="Arial"/>
          <a:ea typeface="Arial"/>
          <a:cs typeface="Arial"/>
        </a:font>
        <a:srgbClr val="000000"/>
      </a:tcTxStyle>
      <a:tcStyle>
        <a:tcBdr>
          <a:lef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9E9E9E"/>
              </a:solidFill>
              <a:prstDash val="solid"/>
              <a:round/>
              <a:headEnd len="sm" w="sm" type="none"/>
              <a:tailEnd len="sm" w="sm" type="none"/>
            </a:ln>
          </a:insideV>
        </a:tcBdr>
      </a:tc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4.xml"/><Relationship Id="rId22" Type="http://schemas.openxmlformats.org/officeDocument/2006/relationships/slide" Target="slides/slide16.xml"/><Relationship Id="rId21" Type="http://schemas.openxmlformats.org/officeDocument/2006/relationships/slide" Target="slides/slide15.xml"/><Relationship Id="rId24" Type="http://schemas.openxmlformats.org/officeDocument/2006/relationships/slide" Target="slides/slide18.xml"/><Relationship Id="rId23" Type="http://schemas.openxmlformats.org/officeDocument/2006/relationships/slide" Target="slides/slide17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26" Type="http://schemas.openxmlformats.org/officeDocument/2006/relationships/slide" Target="slides/slide20.xml"/><Relationship Id="rId25" Type="http://schemas.openxmlformats.org/officeDocument/2006/relationships/slide" Target="slides/slide19.xml"/><Relationship Id="rId28" Type="http://schemas.openxmlformats.org/officeDocument/2006/relationships/slide" Target="slides/slide22.xml"/><Relationship Id="rId27" Type="http://schemas.openxmlformats.org/officeDocument/2006/relationships/slide" Target="slides/slide21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29" Type="http://schemas.openxmlformats.org/officeDocument/2006/relationships/font" Target="fonts/RobotoMono-regular.fntdata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31" Type="http://schemas.openxmlformats.org/officeDocument/2006/relationships/font" Target="fonts/RobotoMono-italic.fntdata"/><Relationship Id="rId30" Type="http://schemas.openxmlformats.org/officeDocument/2006/relationships/font" Target="fonts/RobotoMono-bold.fntdata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32" Type="http://schemas.openxmlformats.org/officeDocument/2006/relationships/font" Target="fonts/RobotoMono-boldItalic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19" Type="http://schemas.openxmlformats.org/officeDocument/2006/relationships/slide" Target="slides/slide13.xml"/><Relationship Id="rId18" Type="http://schemas.openxmlformats.org/officeDocument/2006/relationships/slide" Target="slides/slide1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3f83ce7edaf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3f83ce7edaf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7" name="Shape 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" name="Google Shape;58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9" name="Google Shape;59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3f55eb564f5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3f55eb564f5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0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Google Shape;71;g3f83ce7edaf_0_5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2" name="Google Shape;72;g3f83ce7edaf_0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8" name="Google Shape;78;g3f55eb564f5_0_2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9" name="Google Shape;79;g3f55eb564f5_0_2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f55eb564f5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f55eb564f5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0" name="Shape 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1" name="Google Shape;91;g3f55eb564f5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2" name="Google Shape;92;g3f55eb564f5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8" name="Shape 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9" name="Google Shape;99;g3f744544244_0_1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0" name="Google Shape;100;g3f744544244_0_1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4" name="Shape 10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Google Shape;105;g3f744544244_0_3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6" name="Google Shape;106;g3f744544244_0_3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f744544244_0_4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f744544244_0_4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g3f744544244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1" name="Google Shape;121;g3f744544244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g3f744544244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1" name="Google Shape;131;g3f744544244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f744544244_0_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f744544244_0_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f744544244_0_5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f744544244_0_5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f744544244_0_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f744544244_0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f744544244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f744544244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g3f744544244_0_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9" name="Google Shape;169;g3f744544244_0_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3" name="Shape 1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Google Shape;174;g3f744544244_0_9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5" name="Google Shape;175;g3f744544244_0_9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1" name="Shape 18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2" name="Google Shape;182;g3f83ce7edaf_0_7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3" name="Google Shape;183;g3f83ce7edaf_0_7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8" name="Google Shape;188;g3f83ce7edaf_0_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9" name="Google Shape;189;g3f83ce7edaf_0_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3" name="Shape 1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Google Shape;194;g3f83ce7edaf_0_1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5" name="Google Shape;195;g3f83ce7edaf_0_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9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g3f83ce7edaf_0_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1" name="Google Shape;201;g3f83ce7edaf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sk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.xml"/><Relationship Id="rId3" Type="http://schemas.openxmlformats.org/officeDocument/2006/relationships/hyperlink" Target="http://analysis.py" TargetMode="Externa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4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hyperlink" Target="http://main.py" TargetMode="External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4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hyperlink" Target="https://test.pypi.org/" TargetMode="External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hyperlink" Target="https://docs.astral.sh/uv/" TargetMode="External"/><Relationship Id="rId4" Type="http://schemas.openxmlformats.org/officeDocument/2006/relationships/hyperlink" Target="https://docs.astral.sh/uv/" TargetMode="External"/><Relationship Id="rId5" Type="http://schemas.openxmlformats.org/officeDocument/2006/relationships/hyperlink" Target="https://github.com/wongkinyiu/yolov9" TargetMode="External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Relationship Id="rId3" Type="http://schemas.openxmlformats.org/officeDocument/2006/relationships/image" Target="../media/image3.png"/><Relationship Id="rId4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F1C232"/>
        </a:solidFill>
      </p:bgPr>
    </p:bg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rgbClr val="000000"/>
                </a:solidFill>
              </a:rPr>
              <a:t>Setup</a:t>
            </a:r>
            <a:endParaRPr>
              <a:solidFill>
                <a:srgbClr val="000000"/>
              </a:solidFill>
            </a:endParaRPr>
          </a:p>
        </p:txBody>
      </p:sp>
      <p:sp>
        <p:nvSpPr>
          <p:cNvPr id="55" name="Google Shape;55;p13"/>
          <p:cNvSpPr/>
          <p:nvPr/>
        </p:nvSpPr>
        <p:spPr>
          <a:xfrm>
            <a:off x="821100" y="1048950"/>
            <a:ext cx="7501800" cy="2409000"/>
          </a:xfrm>
          <a:prstGeom prst="flowChartAlternateProcess">
            <a:avLst/>
          </a:prstGeom>
          <a:solidFill>
            <a:srgbClr val="434343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rgbClr val="FCFCFC"/>
                </a:solidFill>
              </a:rPr>
              <a:t>git clone https://github.com/majirky/spacelab_ss26</a:t>
            </a:r>
            <a:endParaRPr sz="1100">
              <a:solidFill>
                <a:srgbClr val="FC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rgbClr val="FCFCFC"/>
                </a:solidFill>
              </a:rPr>
              <a:t>cd spacelab_ss26</a:t>
            </a:r>
            <a:endParaRPr sz="1100">
              <a:solidFill>
                <a:srgbClr val="FC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C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rgbClr val="FCFCFC"/>
                </a:solidFill>
              </a:rPr>
              <a:t>python -m venv .venv </a:t>
            </a:r>
            <a:endParaRPr sz="1100">
              <a:solidFill>
                <a:srgbClr val="FC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rgbClr val="FCFCFC"/>
                </a:solidFill>
              </a:rPr>
              <a:t>source .venv/bin/activate 	</a:t>
            </a:r>
            <a:r>
              <a:rPr lang="sk" sz="1100">
                <a:solidFill>
                  <a:srgbClr val="6AA84F"/>
                </a:solidFill>
              </a:rPr>
              <a:t># mac / linux </a:t>
            </a:r>
            <a:endParaRPr sz="11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rgbClr val="FCFCFC"/>
                </a:solidFill>
              </a:rPr>
              <a:t>.venv\Scripts\Activate.ps1 	</a:t>
            </a:r>
            <a:r>
              <a:rPr lang="sk" sz="1100">
                <a:solidFill>
                  <a:srgbClr val="6AA84F"/>
                </a:solidFill>
              </a:rPr>
              <a:t># windows powershell </a:t>
            </a:r>
            <a:endParaRPr sz="1100">
              <a:solidFill>
                <a:srgbClr val="6AA84F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 sz="1100">
              <a:solidFill>
                <a:srgbClr val="FCFCFC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rgbClr val="FCFCFC"/>
                </a:solidFill>
              </a:rPr>
              <a:t>python start/</a:t>
            </a:r>
            <a:r>
              <a:rPr lang="sk" sz="1100">
                <a:solidFill>
                  <a:srgbClr val="FCFCFC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analysis.py</a:t>
            </a:r>
            <a:r>
              <a:rPr lang="sk" sz="1100">
                <a:solidFill>
                  <a:srgbClr val="FCFCFC"/>
                </a:solidFill>
              </a:rPr>
              <a:t>	</a:t>
            </a:r>
            <a:r>
              <a:rPr lang="sk" sz="1100">
                <a:solidFill>
                  <a:srgbClr val="6AA84F"/>
                </a:solidFill>
              </a:rPr>
              <a:t># očakava sa výstup ….</a:t>
            </a:r>
            <a:endParaRPr/>
          </a:p>
        </p:txBody>
      </p:sp>
      <p:sp>
        <p:nvSpPr>
          <p:cNvPr id="56" name="Google Shape;56;p13"/>
          <p:cNvSpPr txBox="1"/>
          <p:nvPr/>
        </p:nvSpPr>
        <p:spPr>
          <a:xfrm>
            <a:off x="904275" y="3790712"/>
            <a:ext cx="7697100" cy="1128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sk" sz="1800">
                <a:solidFill>
                  <a:srgbClr val="434343"/>
                </a:solidFill>
              </a:rPr>
              <a:t>*Ak chcete uploadovať svoj package na Test Python repozitár (záver workshopu), je potrebné mať TOTP (Time-based One Time Password) aplikáciu, napr. Microsoft Authenticator </a:t>
            </a:r>
            <a:endParaRPr i="1" sz="1800">
              <a:solidFill>
                <a:srgbClr val="434343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4"/>
          <p:cNvSpPr txBox="1"/>
          <p:nvPr>
            <p:ph type="ctrTitle"/>
          </p:nvPr>
        </p:nvSpPr>
        <p:spPr>
          <a:xfrm>
            <a:off x="311708" y="12726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4800"/>
              <a:t>Ako si vytvoriť vlastný Python Package</a:t>
            </a:r>
            <a:endParaRPr sz="4800"/>
          </a:p>
        </p:txBody>
      </p:sp>
      <p:sp>
        <p:nvSpPr>
          <p:cNvPr id="62" name="Google Shape;62;p14"/>
          <p:cNvSpPr txBox="1"/>
          <p:nvPr>
            <p:ph idx="1" type="subTitle"/>
          </p:nvPr>
        </p:nvSpPr>
        <p:spPr>
          <a:xfrm>
            <a:off x="311700" y="37673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sk" sz="2400">
                <a:solidFill>
                  <a:srgbClr val="434343"/>
                </a:solidFill>
              </a:rPr>
              <a:t>SPACE::LAB</a:t>
            </a:r>
            <a:r>
              <a:rPr lang="sk" sz="2400">
                <a:solidFill>
                  <a:srgbClr val="434343"/>
                </a:solidFill>
              </a:rPr>
              <a:t> summer school 26</a:t>
            </a:r>
            <a:endParaRPr sz="2400">
              <a:solidFill>
                <a:srgbClr val="434343"/>
              </a:solidFill>
            </a:endParaRPr>
          </a:p>
          <a:p>
            <a:pPr indent="0" lvl="0" marL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sk" sz="2400">
                <a:solidFill>
                  <a:srgbClr val="434343"/>
                </a:solidFill>
              </a:rPr>
              <a:t>workshop</a:t>
            </a:r>
            <a:endParaRPr sz="2400">
              <a:solidFill>
                <a:srgbClr val="434343"/>
              </a:solidFill>
            </a:endParaRPr>
          </a:p>
        </p:txBody>
      </p:sp>
      <p:pic>
        <p:nvPicPr>
          <p:cNvPr id="63" name="Google Shape;63;p14" title="ue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9873" y="166373"/>
            <a:ext cx="942425" cy="9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spacelab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166374"/>
            <a:ext cx="942425" cy="942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pip install pandas</a:t>
            </a:r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rPr b="1" lang="sk" sz="2500"/>
              <a:t>Čo Vlastne pip install Robí?</a:t>
            </a:r>
            <a:endParaRPr b="1" sz="2500"/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ct val="44000"/>
              <a:buFont typeface="Arial"/>
              <a:buNone/>
            </a:pPr>
            <a:r>
              <a:t/>
            </a:r>
            <a:endParaRPr b="1" sz="2500"/>
          </a:p>
        </p:txBody>
      </p:sp>
      <p:sp>
        <p:nvSpPr>
          <p:cNvPr id="75" name="Google Shape;75;p16"/>
          <p:cNvSpPr txBox="1"/>
          <p:nvPr>
            <p:ph idx="1" type="body"/>
          </p:nvPr>
        </p:nvSpPr>
        <p:spPr>
          <a:xfrm>
            <a:off x="311700" y="1152475"/>
            <a:ext cx="80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>
                <a:solidFill>
                  <a:schemeClr val="dk1"/>
                </a:solidFill>
              </a:rPr>
              <a:t>Jeden príkaz potichu spraví päť vecí:</a:t>
            </a:r>
            <a:endParaRPr sz="1200">
              <a:solidFill>
                <a:schemeClr val="dk1"/>
              </a:solidFill>
            </a:endParaRPr>
          </a:p>
          <a:p>
            <a:pPr indent="-304800" lvl="0" marL="457200" rtl="0" algn="l">
              <a:spcBef>
                <a:spcPts val="120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b="1" lang="sk" sz="1200">
                <a:solidFill>
                  <a:srgbClr val="0D0D0D"/>
                </a:solidFill>
                <a:highlight>
                  <a:srgbClr val="FFFFFF"/>
                </a:highlight>
              </a:rPr>
              <a:t>Nájde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 balík medzi 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státisícami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 na PyPI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b="1" lang="sk" sz="1200">
                <a:solidFill>
                  <a:srgbClr val="0D0D0D"/>
                </a:solidFill>
                <a:highlight>
                  <a:srgbClr val="FFFFFF"/>
                </a:highlight>
              </a:rPr>
              <a:t>Vyrieši závislosti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, nájde kompatibilné verzie balíka a jeho závislostí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b="1" lang="sk" sz="1200">
                <a:solidFill>
                  <a:srgbClr val="0D0D0D"/>
                </a:solidFill>
                <a:highlight>
                  <a:srgbClr val="FFFFFF"/>
                </a:highlight>
              </a:rPr>
              <a:t>Vyberie správnu distribúciu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 podľa OS, verzie Pythonu a architektúry CPU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b="1" lang="sk" sz="1200">
                <a:solidFill>
                  <a:srgbClr val="0D0D0D"/>
                </a:solidFill>
                <a:highlight>
                  <a:srgbClr val="FFFFFF"/>
                </a:highlight>
              </a:rPr>
              <a:t>Zvolí vhodný spôsob inštalácie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, zdrojový kód alebo predkompilovanú binárku (</a:t>
            </a:r>
            <a:r>
              <a:rPr i="1" lang="sk" sz="1200">
                <a:solidFill>
                  <a:srgbClr val="0D0D0D"/>
                </a:solidFill>
                <a:highlight>
                  <a:srgbClr val="FFFFFF"/>
                </a:highlight>
              </a:rPr>
              <a:t>wheel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)</a:t>
            </a:r>
            <a:endParaRPr sz="12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48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200"/>
              <a:buChar char="●"/>
            </a:pPr>
            <a:r>
              <a:rPr b="1" lang="sk" sz="1200">
                <a:solidFill>
                  <a:srgbClr val="0D0D0D"/>
                </a:solidFill>
                <a:highlight>
                  <a:srgbClr val="FFFFFF"/>
                </a:highlight>
              </a:rPr>
              <a:t>Nainštalujte</a:t>
            </a:r>
            <a:r>
              <a:rPr b="1" lang="sk" sz="1200">
                <a:solidFill>
                  <a:srgbClr val="0D0D0D"/>
                </a:solidFill>
                <a:highlight>
                  <a:srgbClr val="FFFFFF"/>
                </a:highlight>
              </a:rPr>
              <a:t> balík do prostredia a sprístupní ho Pythonu;</a:t>
            </a:r>
            <a:r>
              <a:rPr lang="sk" sz="1200">
                <a:solidFill>
                  <a:srgbClr val="0D0D0D"/>
                </a:solidFill>
                <a:highlight>
                  <a:srgbClr val="FFFFFF"/>
                </a:highlight>
              </a:rPr>
              <a:t> verzie umožňujú inštaláciu reprodukovať alebo balík odstrániť</a:t>
            </a:r>
            <a:endParaRPr b="1" sz="12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b="1" sz="110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k" sz="1200">
                <a:solidFill>
                  <a:schemeClr val="dk1"/>
                </a:solidFill>
              </a:rPr>
              <a:t>PyPI </a:t>
            </a:r>
            <a:r>
              <a:rPr lang="sk" sz="1200">
                <a:solidFill>
                  <a:schemeClr val="dk1"/>
                </a:solidFill>
              </a:rPr>
              <a:t>udržiavajú</a:t>
            </a:r>
            <a:r>
              <a:rPr lang="sk" sz="1200">
                <a:solidFill>
                  <a:schemeClr val="dk1"/>
                </a:solidFill>
              </a:rPr>
              <a:t> </a:t>
            </a:r>
            <a:r>
              <a:rPr lang="sk" sz="1200">
                <a:solidFill>
                  <a:schemeClr val="dk1"/>
                </a:solidFill>
              </a:rPr>
              <a:t>dobrovoľníci</a:t>
            </a:r>
            <a:r>
              <a:rPr lang="sk" sz="1200">
                <a:solidFill>
                  <a:schemeClr val="dk1"/>
                </a:solidFill>
              </a:rPr>
              <a:t> vo voľnom čase</a:t>
            </a:r>
            <a:endParaRPr sz="1200">
              <a:solidFill>
                <a:schemeClr val="dk1"/>
              </a:solidFill>
            </a:endParaRPr>
          </a:p>
        </p:txBody>
      </p:sp>
      <p:pic>
        <p:nvPicPr>
          <p:cNvPr id="76" name="Google Shape;76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4131050" y="2838450"/>
            <a:ext cx="4701249" cy="21750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40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k" sz="2500"/>
              <a:t>Prečo Je To Dôležité?</a:t>
            </a:r>
            <a:endParaRPr sz="2500"/>
          </a:p>
        </p:txBody>
      </p:sp>
      <p:sp>
        <p:nvSpPr>
          <p:cNvPr id="82" name="Google Shape;82;p17"/>
          <p:cNvSpPr txBox="1"/>
          <p:nvPr>
            <p:ph idx="1" type="body"/>
          </p:nvPr>
        </p:nvSpPr>
        <p:spPr>
          <a:xfrm>
            <a:off x="311700" y="1152475"/>
            <a:ext cx="8026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sk">
                <a:solidFill>
                  <a:schemeClr val="dk1"/>
                </a:solidFill>
              </a:rPr>
              <a:t>Reprodukovateľnosť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dk1"/>
                </a:solidFill>
              </a:rPr>
              <a:t>Ak si recenzent dokáže váš kód jednoducho spustiť, má väčšiu dôveru vo výsledky výskumu. Vyššie šance na publikovanie.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sk">
                <a:solidFill>
                  <a:schemeClr val="dk1"/>
                </a:solidFill>
              </a:rPr>
              <a:t>Adopcia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dk1"/>
                </a:solidFill>
              </a:rPr>
              <a:t>Ľudia častejšie používajú nástroje, ktoré sa dajú ľahko nainštalovať a integrovať do vlastnej práce.</a:t>
            </a:r>
            <a:endParaRPr>
              <a:solidFill>
                <a:schemeClr val="dk1"/>
              </a:solidFill>
            </a:endParaRPr>
          </a:p>
          <a:p>
            <a:pPr indent="-317500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400"/>
              <a:buChar char="●"/>
            </a:pPr>
            <a:r>
              <a:rPr b="1" lang="sk">
                <a:solidFill>
                  <a:schemeClr val="dk1"/>
                </a:solidFill>
              </a:rPr>
              <a:t>Ty o 6 mesiacov</a:t>
            </a:r>
            <a:endParaRPr b="1">
              <a:solidFill>
                <a:schemeClr val="dk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dk1"/>
                </a:solidFill>
              </a:rPr>
              <a:t>Najčastejším používateľom tvojho kódu budeš pravdepodobne ty sám.</a:t>
            </a:r>
            <a:endParaRPr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sp>
        <p:nvSpPr>
          <p:cNvPr id="83" name="Google Shape;83;p17"/>
          <p:cNvSpPr txBox="1"/>
          <p:nvPr/>
        </p:nvSpPr>
        <p:spPr>
          <a:xfrm>
            <a:off x="352050" y="4654025"/>
            <a:ext cx="3000000" cy="338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sk" sz="1000"/>
              <a:t>Nie všetko ale musí byť package.</a:t>
            </a:r>
            <a:endParaRPr i="1" sz="100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Google Shape;88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Základne Pojmy Python Packagingu</a:t>
            </a:r>
            <a:endParaRPr b="1"/>
          </a:p>
        </p:txBody>
      </p:sp>
      <p:graphicFrame>
        <p:nvGraphicFramePr>
          <p:cNvPr id="89" name="Google Shape;89;p18"/>
          <p:cNvGraphicFramePr/>
          <p:nvPr/>
        </p:nvGraphicFramePr>
        <p:xfrm>
          <a:off x="969675" y="1129350"/>
          <a:ext cx="3000000" cy="3000000"/>
        </p:xfrm>
        <a:graphic>
          <a:graphicData uri="http://schemas.openxmlformats.org/drawingml/2006/table">
            <a:tbl>
              <a:tblPr>
                <a:noFill/>
                <a:tableStyleId>{B8C5D74C-0EB0-4D38-AA6F-B8191D18D5C3}</a:tableStyleId>
              </a:tblPr>
              <a:tblGrid>
                <a:gridCol w="2571900"/>
                <a:gridCol w="5096450"/>
              </a:tblGrid>
              <a:tr h="30175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Modul (Module)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Jeden súbor </a:t>
                      </a:r>
                      <a:r>
                        <a:rPr lang="sk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.py</a:t>
                      </a:r>
                      <a:r>
                        <a:rPr lang="sk" sz="1200">
                          <a:solidFill>
                            <a:schemeClr val="dk1"/>
                          </a:solidFill>
                        </a:rPr>
                        <a:t> obsahujúci Python kód.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Balík (Package)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Adresár obsahujúci jeden alebo viac modulov, prípadne ďalšie podbalíky.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5919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Distribúcia (Distribution)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Balík určený na inštaláciu. Jeho názov sa môže líšiť od názvu používaného pri importe (scikit-learn/scikit).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Wheel (.whl)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Predpripravený balík obsahujúci kód a metadáta. Umožňuje rýchlu inštaláciu bez kompilácie.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4439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Virtuálne prostredie (.venv)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Izolované Python prostredie s vlastnými knižnicami a závislosťami pre konkrétny projekt.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272200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PyPI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Centrálne úložisko Python balíkov, z ktorého inštaluje </a:t>
                      </a:r>
                      <a:r>
                        <a:rPr lang="sk" sz="1100">
                          <a:solidFill>
                            <a:schemeClr val="dk1"/>
                          </a:solidFill>
                          <a:latin typeface="Roboto Mono"/>
                          <a:ea typeface="Roboto Mono"/>
                          <a:cs typeface="Roboto Mono"/>
                          <a:sym typeface="Roboto Mono"/>
                        </a:rPr>
                        <a:t>pip</a:t>
                      </a:r>
                      <a:r>
                        <a:rPr lang="sk" sz="1200">
                          <a:solidFill>
                            <a:schemeClr val="dk1"/>
                          </a:solidFill>
                        </a:rPr>
                        <a:t>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4467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pip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Nástroj na inštaláciu a správu Python balíkov.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351125">
                <a:tc>
                  <a:txBody>
                    <a:bodyPr/>
                    <a:lstStyle/>
                    <a:p>
                      <a:pPr indent="0" lvl="0" marL="0" rtl="0" algn="l">
                        <a:lnSpc>
                          <a:spcPct val="115000"/>
                        </a:lnSpc>
                        <a:spcBef>
                          <a:spcPts val="0"/>
                        </a:spcBef>
                        <a:spcAft>
                          <a:spcPts val="120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b="1" lang="sk">
                          <a:solidFill>
                            <a:srgbClr val="0D0D0D"/>
                          </a:solidFill>
                        </a:rPr>
                        <a:t>pyproject.toml</a:t>
                      </a:r>
                      <a:endParaRPr b="1">
                        <a:solidFill>
                          <a:srgbClr val="0D0D0D"/>
                        </a:solidFill>
                      </a:endParaRPr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rtl="0" algn="l"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sk" sz="1200">
                          <a:solidFill>
                            <a:schemeClr val="dk1"/>
                          </a:solidFill>
                        </a:rPr>
                        <a:t>Konfiguračný súbor definujúci metadáta projektu a spôsob jeho zostavenia.</a:t>
                      </a:r>
                      <a:endParaRPr/>
                    </a:p>
                  </a:txBody>
                  <a:tcPr marT="91425" marB="91425" marR="91425" marL="91425">
                    <a:lnL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9525">
                      <a:solidFill>
                        <a:schemeClr val="lt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93" name="Shape 9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Google Shape;94;p19"/>
          <p:cNvSpPr txBox="1"/>
          <p:nvPr>
            <p:ph type="title"/>
          </p:nvPr>
        </p:nvSpPr>
        <p:spPr>
          <a:xfrm>
            <a:off x="311700" y="445025"/>
            <a:ext cx="60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FFFFFF"/>
                </a:solidFill>
              </a:rPr>
              <a:t>Cvičenie 1 | Dajte Kódu Štruktúru 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95" name="Google Shape;95;p19"/>
          <p:cNvSpPr txBox="1"/>
          <p:nvPr>
            <p:ph idx="1" type="body"/>
          </p:nvPr>
        </p:nvSpPr>
        <p:spPr>
          <a:xfrm>
            <a:off x="311700" y="1152475"/>
            <a:ext cx="8520600" cy="3752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100">
                <a:solidFill>
                  <a:schemeClr val="lt1"/>
                </a:solidFill>
              </a:rPr>
              <a:t>Prerobte obsah súboru </a:t>
            </a:r>
            <a:r>
              <a:rPr b="1" lang="sk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analysis.py</a:t>
            </a:r>
            <a:r>
              <a:rPr lang="sk" sz="1100">
                <a:solidFill>
                  <a:schemeClr val="lt1"/>
                </a:solidFill>
              </a:rPr>
              <a:t> do troch modulov: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io.py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smooth.py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peaks.py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4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b="1" lang="sk" sz="1300">
                <a:solidFill>
                  <a:schemeClr val="lt1"/>
                </a:solidFill>
              </a:rPr>
              <a:t>Pravidlá</a:t>
            </a:r>
            <a:endParaRPr b="1"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sk" sz="1100">
                <a:solidFill>
                  <a:schemeClr val="lt1"/>
                </a:solidFill>
              </a:rPr>
              <a:t>Žiadne cesty k súborom vo funkciách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sk" sz="1100">
                <a:solidFill>
                  <a:schemeClr val="lt1"/>
                </a:solidFill>
              </a:rPr>
              <a:t>Cestu k súboru .csv odovzdáva volajúci kód ako vstupný parameter.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sk" sz="1100">
                <a:solidFill>
                  <a:schemeClr val="lt1"/>
                </a:solidFill>
              </a:rPr>
              <a:t>Žiadne </a:t>
            </a:r>
            <a:r>
              <a:rPr b="1" lang="sk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print()</a:t>
            </a:r>
            <a:r>
              <a:rPr b="1" lang="sk" sz="1100">
                <a:solidFill>
                  <a:schemeClr val="lt1"/>
                </a:solidFill>
              </a:rPr>
              <a:t> vo funkciách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sk" sz="1100">
                <a:solidFill>
                  <a:schemeClr val="lt1"/>
                </a:solidFill>
              </a:rPr>
              <a:t>Funkcie vracajú hodnoty, nevypisujú ich na obrazovku.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sk" sz="1100">
                <a:solidFill>
                  <a:schemeClr val="lt1"/>
                </a:solidFill>
              </a:rPr>
              <a:t>Pri importe sa nesmie nič </a:t>
            </a:r>
            <a:r>
              <a:rPr b="1" lang="sk" sz="1100">
                <a:solidFill>
                  <a:schemeClr val="lt1"/>
                </a:solidFill>
              </a:rPr>
              <a:t>spustiť</a:t>
            </a:r>
            <a:endParaRPr b="1"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sk" sz="1100">
                <a:solidFill>
                  <a:schemeClr val="lt1"/>
                </a:solidFill>
              </a:rPr>
              <a:t>Import modulu nesmie mať žiadne viditeľné vedľajšie efekty (</a:t>
            </a:r>
            <a:r>
              <a:rPr lang="sk" sz="1100">
                <a:solidFill>
                  <a:schemeClr val="lt1"/>
                </a:solidFill>
              </a:rPr>
              <a:t>nevykonávajte</a:t>
            </a:r>
            <a:r>
              <a:rPr lang="sk" sz="1100">
                <a:solidFill>
                  <a:schemeClr val="lt1"/>
                </a:solidFill>
              </a:rPr>
              <a:t> výpočty ani výpisy).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100"/>
              <a:buAutoNum type="arabicPeriod"/>
            </a:pPr>
            <a:r>
              <a:rPr b="1" lang="sk" sz="1200">
                <a:solidFill>
                  <a:schemeClr val="lt1"/>
                </a:solidFill>
              </a:rPr>
              <a:t>Moduly umiestnite do adresára</a:t>
            </a:r>
            <a:r>
              <a:rPr lang="sk" sz="1200">
                <a:solidFill>
                  <a:schemeClr val="lt1"/>
                </a:solidFill>
              </a:rPr>
              <a:t> </a:t>
            </a:r>
            <a:r>
              <a:rPr b="1" lang="sk" sz="1100">
                <a:solidFill>
                  <a:schemeClr val="lt1"/>
                </a:solidFill>
                <a:latin typeface="Roboto Mono"/>
                <a:ea typeface="Roboto Mono"/>
                <a:cs typeface="Roboto Mono"/>
                <a:sym typeface="Roboto Mono"/>
              </a:rPr>
              <a:t>src/</a:t>
            </a:r>
            <a:endParaRPr b="1"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sk" sz="1100">
                <a:solidFill>
                  <a:schemeClr val="lt1"/>
                </a:solidFill>
              </a:rPr>
              <a:t>* </a:t>
            </a:r>
            <a:r>
              <a:rPr lang="sk" sz="1100">
                <a:solidFill>
                  <a:schemeClr val="lt1"/>
                </a:solidFill>
              </a:rPr>
              <a:t>nezabudnite na </a:t>
            </a:r>
            <a:r>
              <a:rPr lang="sk" sz="1100">
                <a:solidFill>
                  <a:schemeClr val="lt1"/>
                </a:solidFill>
              </a:rPr>
              <a:t>konštanty FILE, WINDOW, TRESHOLD. To by mal byť nastaviteľný vstupný parameter prislúchajúcej funkcii.</a:t>
            </a:r>
            <a:endParaRPr sz="1100">
              <a:solidFill>
                <a:schemeClr val="lt1"/>
              </a:solidFill>
              <a:latin typeface="Roboto Mono"/>
              <a:ea typeface="Roboto Mono"/>
              <a:cs typeface="Roboto Mono"/>
              <a:sym typeface="Roboto Mono"/>
            </a:endParaRPr>
          </a:p>
        </p:txBody>
      </p:sp>
      <p:sp>
        <p:nvSpPr>
          <p:cNvPr id="96" name="Google Shape;96;p19"/>
          <p:cNvSpPr txBox="1"/>
          <p:nvPr>
            <p:ph type="title"/>
          </p:nvPr>
        </p:nvSpPr>
        <p:spPr>
          <a:xfrm>
            <a:off x="7633675" y="462199"/>
            <a:ext cx="119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k" sz="1700">
                <a:solidFill>
                  <a:srgbClr val="F3F3F3"/>
                </a:solidFill>
              </a:rPr>
              <a:t>(10 min.)</a:t>
            </a:r>
            <a:endParaRPr sz="1700">
              <a:solidFill>
                <a:srgbClr val="F3F3F3"/>
              </a:solidFill>
            </a:endParaRPr>
          </a:p>
        </p:txBody>
      </p:sp>
      <p:sp>
        <p:nvSpPr>
          <p:cNvPr id="97" name="Google Shape;97;p19"/>
          <p:cNvSpPr txBox="1"/>
          <p:nvPr/>
        </p:nvSpPr>
        <p:spPr>
          <a:xfrm>
            <a:off x="5607175" y="1152475"/>
            <a:ext cx="3000000" cy="147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myproject/ </a:t>
            </a:r>
            <a:endParaRPr sz="12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└── src/ </a:t>
            </a:r>
            <a:endParaRPr sz="12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└── spectra/ </a:t>
            </a:r>
            <a:endParaRPr sz="1200"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├── __init__.py </a:t>
            </a:r>
            <a:endParaRPr sz="1200"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├── io.py </a:t>
            </a:r>
            <a:endParaRPr sz="1200"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├── smooth.py </a:t>
            </a:r>
            <a:endParaRPr sz="1200">
              <a:solidFill>
                <a:schemeClr val="lt1"/>
              </a:solidFill>
            </a:endParaRPr>
          </a:p>
          <a:p>
            <a:pPr indent="45720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200">
                <a:solidFill>
                  <a:schemeClr val="lt1"/>
                </a:solidFill>
              </a:rPr>
              <a:t>└── peaks.py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Google Shape;102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/>
              <a:t>Na Niečo Sme Zabudli…</a:t>
            </a:r>
            <a:endParaRPr/>
          </a:p>
        </p:txBody>
      </p:sp>
      <p:sp>
        <p:nvSpPr>
          <p:cNvPr id="103" name="Google Shape;103;p20"/>
          <p:cNvSpPr txBox="1"/>
          <p:nvPr/>
        </p:nvSpPr>
        <p:spPr>
          <a:xfrm>
            <a:off x="2017350" y="3065500"/>
            <a:ext cx="5109300" cy="9102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chemeClr val="dk2"/>
                </a:solidFill>
              </a:rPr>
              <a:t>pyproject.toml, README, LICENSE</a:t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7" name="Shape 10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8" name="Google Shape;108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README.md</a:t>
            </a:r>
            <a:endParaRPr b="1"/>
          </a:p>
        </p:txBody>
      </p:sp>
      <p:sp>
        <p:nvSpPr>
          <p:cNvPr id="109" name="Google Shape;109;p21"/>
          <p:cNvSpPr txBox="1"/>
          <p:nvPr>
            <p:ph idx="1" type="body"/>
          </p:nvPr>
        </p:nvSpPr>
        <p:spPr>
          <a:xfrm>
            <a:off x="2344950" y="1118125"/>
            <a:ext cx="4454100" cy="3416400"/>
          </a:xfrm>
          <a:prstGeom prst="rect">
            <a:avLst/>
          </a:prstGeom>
          <a:solidFill>
            <a:srgbClr val="434343"/>
          </a:solidFill>
        </p:spPr>
        <p:txBody>
          <a:bodyPr anchorCtr="0" anchor="t" bIns="91425" lIns="91425" spcFirstLastPara="1" rIns="91425" wrap="square" tIns="91425">
            <a:normAutofit fontScale="77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# </a:t>
            </a:r>
            <a:r>
              <a:rPr lang="sk">
                <a:solidFill>
                  <a:schemeClr val="lt1"/>
                </a:solidFill>
              </a:rPr>
              <a:t>spectra Find peaks in 1-D spectra.  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## Install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```bash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pip install spectra-yourname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```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## Use it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```python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from spectra import load_csv, find_peaks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x, y = load_csv("data.csv")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print(find_peaks(x, y, threshold=4))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```</a:t>
            </a:r>
            <a:endParaRPr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" name="Google Shape;114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LICENSE</a:t>
            </a:r>
            <a:endParaRPr b="1"/>
          </a:p>
        </p:txBody>
      </p:sp>
      <p:sp>
        <p:nvSpPr>
          <p:cNvPr id="115" name="Google Shape;115;p22"/>
          <p:cNvSpPr txBox="1"/>
          <p:nvPr/>
        </p:nvSpPr>
        <p:spPr>
          <a:xfrm>
            <a:off x="480850" y="1468350"/>
            <a:ext cx="2833800" cy="30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0D0D0D"/>
                </a:solidFill>
              </a:rPr>
              <a:t>MIT</a:t>
            </a:r>
            <a:endParaRPr sz="1800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 u="sng">
                <a:solidFill>
                  <a:srgbClr val="0D0D0D"/>
                </a:solidFill>
                <a:highlight>
                  <a:srgbClr val="FCFCFC"/>
                </a:highlight>
              </a:rPr>
              <a:t>Rob si s tým, čo chceš, len zachovaj moje meno.</a:t>
            </a:r>
            <a:endParaRPr sz="1200" u="sng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>
                <a:solidFill>
                  <a:srgbClr val="0D0D0D"/>
                </a:solidFill>
                <a:highlight>
                  <a:srgbClr val="FCFCFC"/>
                </a:highlight>
              </a:rPr>
              <a:t>Najkratšia a najvoľnejšia licencia. Predvolená voľba v rámci vedeckého Pythonu. Iní ju môžu dokonca predávať – musia však zachovať uvedenie autora.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6" name="Google Shape;116;p22"/>
          <p:cNvSpPr txBox="1"/>
          <p:nvPr/>
        </p:nvSpPr>
        <p:spPr>
          <a:xfrm>
            <a:off x="3456038" y="1468350"/>
            <a:ext cx="2833800" cy="2689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/>
              <a:t>Apache-2.0</a:t>
            </a:r>
            <a:endParaRPr sz="1800"/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 u="sng">
                <a:solidFill>
                  <a:srgbClr val="0D0D0D"/>
                </a:solidFill>
                <a:highlight>
                  <a:srgbClr val="FCFCFC"/>
                </a:highlight>
              </a:rPr>
              <a:t>MIT + výslovné udelenie patentových práv</a:t>
            </a:r>
            <a:endParaRPr sz="1200" u="sng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>
                <a:solidFill>
                  <a:srgbClr val="0D0D0D"/>
                </a:solidFill>
                <a:highlight>
                  <a:srgbClr val="FCFCFC"/>
                </a:highlight>
              </a:rPr>
              <a:t>Podobná ako MIT, ale navyše poskytuje patentovú ochranu a vyžaduje oznámenie o zmenách. Vhodná najmä tam, kde môžu byť relevantné patenty.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7" name="Google Shape;117;p22"/>
          <p:cNvSpPr txBox="1"/>
          <p:nvPr/>
        </p:nvSpPr>
        <p:spPr>
          <a:xfrm>
            <a:off x="6431225" y="1468350"/>
            <a:ext cx="2602200" cy="3082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0D0D0D"/>
                </a:solidFill>
              </a:rPr>
              <a:t>GPL-3.0</a:t>
            </a:r>
            <a:endParaRPr sz="1800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 u="sng">
                <a:solidFill>
                  <a:srgbClr val="0D0D0D"/>
                </a:solidFill>
                <a:highlight>
                  <a:srgbClr val="FCFCFC"/>
                </a:highlight>
              </a:rPr>
              <a:t>Zdieľaj za rovnakých podmienok – copyleft</a:t>
            </a:r>
            <a:endParaRPr sz="1200" u="sng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 sz="1200">
                <a:solidFill>
                  <a:srgbClr val="0D0D0D"/>
                </a:solidFill>
                <a:highlight>
                  <a:srgbClr val="FCFCFC"/>
                </a:highlight>
              </a:rPr>
              <a:t>Každý, kto distribuuje upravenú verziu, ju musí tiež zverejniť ako open-source. Zachováva odvodené diela slobodné; niektoré firmy sa jej preto vyhýbajú.</a:t>
            </a:r>
            <a:endParaRPr sz="1200">
              <a:solidFill>
                <a:srgbClr val="0D0D0D"/>
              </a:solidFill>
              <a:highlight>
                <a:srgbClr val="FCFCFC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18" name="Google Shape;118;p22"/>
          <p:cNvSpPr txBox="1"/>
          <p:nvPr/>
        </p:nvSpPr>
        <p:spPr>
          <a:xfrm>
            <a:off x="2953350" y="4379250"/>
            <a:ext cx="3237300" cy="48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 u="sng">
                <a:solidFill>
                  <a:schemeClr val="dk1"/>
                </a:solidFill>
              </a:rPr>
              <a:t>choosealicense.com</a:t>
            </a:r>
            <a:endParaRPr sz="1600" u="sng"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pyproject.toml</a:t>
            </a:r>
            <a:endParaRPr b="1"/>
          </a:p>
        </p:txBody>
      </p:sp>
      <p:sp>
        <p:nvSpPr>
          <p:cNvPr id="124" name="Google Shape;124;p23"/>
          <p:cNvSpPr txBox="1"/>
          <p:nvPr/>
        </p:nvSpPr>
        <p:spPr>
          <a:xfrm>
            <a:off x="429350" y="1133475"/>
            <a:ext cx="72645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/>
              <a:t>Je to deklaratívny súbor, ktorý odpovie na štyri </a:t>
            </a:r>
            <a:r>
              <a:rPr lang="sk" sz="1800"/>
              <a:t>základné</a:t>
            </a:r>
            <a:r>
              <a:rPr lang="sk" sz="1800"/>
              <a:t> otázky</a:t>
            </a:r>
            <a:endParaRPr sz="1800"/>
          </a:p>
        </p:txBody>
      </p:sp>
      <p:sp>
        <p:nvSpPr>
          <p:cNvPr id="125" name="Google Shape;125;p23"/>
          <p:cNvSpPr txBox="1"/>
          <p:nvPr/>
        </p:nvSpPr>
        <p:spPr>
          <a:xfrm>
            <a:off x="532400" y="1863350"/>
            <a:ext cx="27906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38761D"/>
                </a:solidFill>
              </a:rPr>
              <a:t>Ako sa vybudujem?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A64D79"/>
                </a:solidFill>
              </a:rPr>
              <a:t>[build-system]</a:t>
            </a:r>
            <a:endParaRPr sz="1800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>
                <a:solidFill>
                  <a:srgbClr val="0D0D0D"/>
                </a:solidFill>
              </a:rPr>
              <a:t>nástroj na budovanie .whl</a:t>
            </a:r>
            <a:endParaRPr sz="1600">
              <a:solidFill>
                <a:srgbClr val="0D0D0D"/>
              </a:solidFill>
            </a:endParaRPr>
          </a:p>
        </p:txBody>
      </p:sp>
      <p:sp>
        <p:nvSpPr>
          <p:cNvPr id="126" name="Google Shape;126;p23"/>
          <p:cNvSpPr txBox="1"/>
          <p:nvPr/>
        </p:nvSpPr>
        <p:spPr>
          <a:xfrm>
            <a:off x="4572000" y="1863342"/>
            <a:ext cx="40836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38761D"/>
                </a:solidFill>
              </a:rPr>
              <a:t>Čo som zač</a:t>
            </a:r>
            <a:r>
              <a:rPr b="1" lang="sk" sz="1800">
                <a:solidFill>
                  <a:srgbClr val="38761D"/>
                </a:solidFill>
              </a:rPr>
              <a:t>?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A64D79"/>
                </a:solidFill>
              </a:rPr>
              <a:t>[project]</a:t>
            </a:r>
            <a:endParaRPr sz="1800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>
                <a:solidFill>
                  <a:srgbClr val="0D0D0D"/>
                </a:solidFill>
              </a:rPr>
              <a:t>názov, verzia, popis, Python verzia k behu</a:t>
            </a:r>
            <a:endParaRPr sz="1600">
              <a:solidFill>
                <a:srgbClr val="0D0D0D"/>
              </a:solidFill>
            </a:endParaRPr>
          </a:p>
        </p:txBody>
      </p:sp>
      <p:sp>
        <p:nvSpPr>
          <p:cNvPr id="127" name="Google Shape;127;p23"/>
          <p:cNvSpPr txBox="1"/>
          <p:nvPr/>
        </p:nvSpPr>
        <p:spPr>
          <a:xfrm>
            <a:off x="532400" y="3466900"/>
            <a:ext cx="34347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38761D"/>
                </a:solidFill>
              </a:rPr>
              <a:t>Čo potrebujem</a:t>
            </a:r>
            <a:r>
              <a:rPr b="1" lang="sk" sz="1800">
                <a:solidFill>
                  <a:srgbClr val="38761D"/>
                </a:solidFill>
              </a:rPr>
              <a:t>?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A64D79"/>
                </a:solidFill>
              </a:rPr>
              <a:t>dependencies</a:t>
            </a:r>
            <a:endParaRPr sz="1800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>
                <a:solidFill>
                  <a:srgbClr val="0D0D0D"/>
                </a:solidFill>
              </a:rPr>
              <a:t>balíčky ktoré musí pip nainštalovať</a:t>
            </a:r>
            <a:endParaRPr sz="1600">
              <a:solidFill>
                <a:srgbClr val="0D0D0D"/>
              </a:solidFill>
            </a:endParaRPr>
          </a:p>
        </p:txBody>
      </p:sp>
      <p:sp>
        <p:nvSpPr>
          <p:cNvPr id="128" name="Google Shape;128;p23"/>
          <p:cNvSpPr txBox="1"/>
          <p:nvPr/>
        </p:nvSpPr>
        <p:spPr>
          <a:xfrm>
            <a:off x="4572000" y="3466900"/>
            <a:ext cx="3740100" cy="1296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38761D"/>
                </a:solidFill>
              </a:rPr>
              <a:t>Aké nástroje mám nastavené</a:t>
            </a:r>
            <a:r>
              <a:rPr b="1" lang="sk" sz="1800">
                <a:solidFill>
                  <a:srgbClr val="38761D"/>
                </a:solidFill>
              </a:rPr>
              <a:t>?</a:t>
            </a:r>
            <a:endParaRPr b="1" sz="1800">
              <a:solidFill>
                <a:srgbClr val="38761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A64D79"/>
                </a:solidFill>
              </a:rPr>
              <a:t>[tool.*]</a:t>
            </a:r>
            <a:endParaRPr sz="1800">
              <a:solidFill>
                <a:srgbClr val="A64D79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600">
                <a:solidFill>
                  <a:srgbClr val="0D0D0D"/>
                </a:solidFill>
              </a:rPr>
              <a:t>nastavenia pre lintery, pytest, …</a:t>
            </a:r>
            <a:endParaRPr sz="160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Anat</a:t>
            </a:r>
            <a:r>
              <a:rPr b="1" lang="sk"/>
              <a:t>ómia Minimálneho pyproject.toml</a:t>
            </a:r>
            <a:endParaRPr b="1"/>
          </a:p>
        </p:txBody>
      </p:sp>
      <p:sp>
        <p:nvSpPr>
          <p:cNvPr id="134" name="Google Shape;134;p24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solidFill>
            <a:srgbClr val="434343"/>
          </a:solidFill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[build-system]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requires = ["hatchling"]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build-backend = "hatchling.build"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[project]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name = "spectra-yourname"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version = "0.1.0"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description = "Find peaks in 1-D spectra."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readme = "README.md"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requires-python = "&gt;=3.9" l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license = "MIT"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dependencies = ["rich&gt;=13.0"]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[project.scripts]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spectra-find = "spectra.cli:main"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[tool.hatch.build.targets.wheel] </a:t>
            </a:r>
            <a:endParaRPr sz="1300">
              <a:solidFill>
                <a:schemeClr val="lt1"/>
              </a:solidFill>
            </a:endParaRPr>
          </a:p>
          <a:p>
            <a:pPr indent="0" lvl="0" marL="0" rtl="0" algn="l">
              <a:lnSpc>
                <a:spcPct val="10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sk" sz="1300">
                <a:solidFill>
                  <a:schemeClr val="lt1"/>
                </a:solidFill>
              </a:rPr>
              <a:t>packages = ["src/spectra"]</a:t>
            </a:r>
            <a:endParaRPr sz="1300">
              <a:solidFill>
                <a:schemeClr val="lt1"/>
              </a:solidFill>
            </a:endParaRPr>
          </a:p>
        </p:txBody>
      </p:sp>
      <p:sp>
        <p:nvSpPr>
          <p:cNvPr id="135" name="Google Shape;135;p24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sk">
                <a:solidFill>
                  <a:srgbClr val="0D0D0D"/>
                </a:solidFill>
              </a:rPr>
              <a:t>the build backend</a:t>
            </a:r>
            <a:endParaRPr b="1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sk">
                <a:solidFill>
                  <a:srgbClr val="0D0D0D"/>
                </a:solidFill>
              </a:rPr>
              <a:t>nástroj, ktorý vytvára wheel balíček, takmer nikdy ho netreba meniť</a:t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sk">
                <a:solidFill>
                  <a:srgbClr val="0D0D0D"/>
                </a:solidFill>
              </a:rPr>
              <a:t>name + version</a:t>
            </a:r>
            <a:endParaRPr b="1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sk">
                <a:solidFill>
                  <a:srgbClr val="0D0D0D"/>
                </a:solidFill>
              </a:rPr>
              <a:t>tvoj názov na PyPI; verzia sa musí pri každom vydaní zvýšiť</a:t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sk">
                <a:solidFill>
                  <a:srgbClr val="0D0D0D"/>
                </a:solidFill>
              </a:rPr>
              <a:t>requires-python</a:t>
            </a:r>
            <a:endParaRPr b="1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sk">
                <a:solidFill>
                  <a:srgbClr val="0D0D0D"/>
                </a:solidFill>
              </a:rPr>
              <a:t>pip odmietne nainštalovať balík na starších verziách Pythonu </a:t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sk">
                <a:solidFill>
                  <a:srgbClr val="0D0D0D"/>
                </a:solidFill>
              </a:rPr>
              <a:t>dependencies</a:t>
            </a:r>
            <a:endParaRPr b="1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sk">
                <a:solidFill>
                  <a:srgbClr val="0D0D0D"/>
                </a:solidFill>
              </a:rPr>
              <a:t>nainštalujú sa automaticky</a:t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sk">
                <a:solidFill>
                  <a:srgbClr val="0D0D0D"/>
                </a:solidFill>
              </a:rPr>
              <a:t>[project.scripts]</a:t>
            </a:r>
            <a:endParaRPr b="1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lang="sk">
                <a:solidFill>
                  <a:srgbClr val="0D0D0D"/>
                </a:solidFill>
              </a:rPr>
              <a:t>funkcie je tak možné volať z terminálu</a:t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t/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78571"/>
              <a:buFont typeface="Arial"/>
              <a:buNone/>
            </a:pPr>
            <a:r>
              <a:rPr b="1" lang="sk">
                <a:solidFill>
                  <a:srgbClr val="0D0D0D"/>
                </a:solidFill>
              </a:rPr>
              <a:t>packages</a:t>
            </a:r>
            <a:endParaRPr b="1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rgbClr val="0D0D0D"/>
                </a:solidFill>
              </a:rPr>
              <a:t>miesto, kde sa tvoj kód nachádza (src layout)</a:t>
            </a:r>
            <a:endParaRPr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5"/>
          <p:cNvSpPr txBox="1"/>
          <p:nvPr>
            <p:ph type="title"/>
          </p:nvPr>
        </p:nvSpPr>
        <p:spPr>
          <a:xfrm>
            <a:off x="311700" y="445025"/>
            <a:ext cx="60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FFFFFF"/>
                </a:solidFill>
              </a:rPr>
              <a:t>Cvičenie 2 | Metadáta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41" name="Google Shape;141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100">
                <a:solidFill>
                  <a:schemeClr val="lt1"/>
                </a:solidFill>
              </a:rPr>
              <a:t>V </a:t>
            </a:r>
            <a:r>
              <a:rPr b="1" lang="sk" sz="1100">
                <a:solidFill>
                  <a:schemeClr val="lt1"/>
                </a:solidFill>
              </a:rPr>
              <a:t>myproject/</a:t>
            </a:r>
            <a:r>
              <a:rPr lang="sk" sz="1100">
                <a:solidFill>
                  <a:schemeClr val="lt1"/>
                </a:solidFill>
              </a:rPr>
              <a:t> vytvorte dokumenty, ktoré popisujú Váš projekt: 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pyproject.toml (stačí minimálny príklad)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README.md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LICENSE.md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42" name="Google Shape;142;p25"/>
          <p:cNvSpPr txBox="1"/>
          <p:nvPr>
            <p:ph type="title"/>
          </p:nvPr>
        </p:nvSpPr>
        <p:spPr>
          <a:xfrm>
            <a:off x="7633675" y="462199"/>
            <a:ext cx="119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k" sz="1700">
                <a:solidFill>
                  <a:srgbClr val="F3F3F3"/>
                </a:solidFill>
              </a:rPr>
              <a:t>(5 min.)</a:t>
            </a:r>
            <a:endParaRPr sz="17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Buildovanie</a:t>
            </a:r>
            <a:endParaRPr b="1"/>
          </a:p>
        </p:txBody>
      </p:sp>
      <p:sp>
        <p:nvSpPr>
          <p:cNvPr id="148" name="Google Shape;148;p26"/>
          <p:cNvSpPr txBox="1"/>
          <p:nvPr/>
        </p:nvSpPr>
        <p:spPr>
          <a:xfrm>
            <a:off x="162750" y="1451100"/>
            <a:ext cx="8818500" cy="19272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pip install build	</a:t>
            </a:r>
            <a:r>
              <a:rPr i="1" lang="sk">
                <a:solidFill>
                  <a:srgbClr val="6AA84F"/>
                </a:solidFill>
              </a:rPr>
              <a:t># nainštalujeme knižnicu na budovanie</a:t>
            </a:r>
            <a:r>
              <a:rPr lang="sk">
                <a:solidFill>
                  <a:schemeClr val="lt1"/>
                </a:solidFill>
              </a:rPr>
              <a:t> 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</a:t>
            </a:r>
            <a:r>
              <a:rPr lang="sk">
                <a:solidFill>
                  <a:schemeClr val="lt1"/>
                </a:solidFill>
              </a:rPr>
              <a:t>python -m build 	</a:t>
            </a:r>
            <a:r>
              <a:rPr i="1" lang="sk">
                <a:solidFill>
                  <a:srgbClr val="6AA84F"/>
                </a:solidFill>
              </a:rPr>
              <a:t># spustíme knižnicu ako python module</a:t>
            </a:r>
            <a:endParaRPr i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</a:t>
            </a:r>
            <a:r>
              <a:rPr lang="sk">
                <a:solidFill>
                  <a:schemeClr val="lt1"/>
                </a:solidFill>
              </a:rPr>
              <a:t>ls dist/			</a:t>
            </a:r>
            <a:r>
              <a:rPr i="1" lang="sk">
                <a:solidFill>
                  <a:srgbClr val="6AA84F"/>
                </a:solidFill>
              </a:rPr>
              <a:t># mali by sme dostať 2 súbory</a:t>
            </a:r>
            <a:endParaRPr i="1"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</a:t>
            </a:r>
            <a:r>
              <a:rPr lang="sk">
                <a:solidFill>
                  <a:schemeClr val="lt1"/>
                </a:solidFill>
              </a:rPr>
              <a:t>python -m zipfile -l dist/*.whl	</a:t>
            </a:r>
            <a:r>
              <a:rPr i="1" lang="sk">
                <a:solidFill>
                  <a:srgbClr val="6AA84F"/>
                </a:solidFill>
              </a:rPr>
              <a:t># čo sa nachádza v .whl súbore?</a:t>
            </a:r>
            <a:endParaRPr i="1">
              <a:solidFill>
                <a:srgbClr val="6AA84F"/>
              </a:solidFill>
            </a:endParaRPr>
          </a:p>
        </p:txBody>
      </p:sp>
      <p:sp>
        <p:nvSpPr>
          <p:cNvPr id="149" name="Google Shape;149;p26"/>
          <p:cNvSpPr txBox="1"/>
          <p:nvPr/>
        </p:nvSpPr>
        <p:spPr>
          <a:xfrm>
            <a:off x="484700" y="3204750"/>
            <a:ext cx="4470600" cy="7380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7"/>
          <p:cNvSpPr txBox="1"/>
          <p:nvPr>
            <p:ph type="title"/>
          </p:nvPr>
        </p:nvSpPr>
        <p:spPr>
          <a:xfrm>
            <a:off x="311700" y="445025"/>
            <a:ext cx="60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FFFFFF"/>
                </a:solidFill>
              </a:rPr>
              <a:t>Cvičenie 3 | Použite Knižnicu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55" name="Google Shape;155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sk" sz="1100">
                <a:solidFill>
                  <a:schemeClr val="lt1"/>
                </a:solidFill>
              </a:rPr>
              <a:t>Čo ste si vyrobili, to si aj vyskúšajte: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Vytvorte si nový projekt (priečinok)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Vytvorte si v </a:t>
            </a:r>
            <a:r>
              <a:rPr lang="sk" sz="1100">
                <a:solidFill>
                  <a:schemeClr val="lt1"/>
                </a:solidFill>
              </a:rPr>
              <a:t>ňom nové </a:t>
            </a:r>
            <a:r>
              <a:rPr lang="sk" sz="1100">
                <a:solidFill>
                  <a:schemeClr val="lt1"/>
                </a:solidFill>
              </a:rPr>
              <a:t>virtuálne</a:t>
            </a:r>
            <a:r>
              <a:rPr lang="sk" sz="1100">
                <a:solidFill>
                  <a:schemeClr val="lt1"/>
                </a:solidFill>
              </a:rPr>
              <a:t> prostredie pythonu .venv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Nainštalujte si svoju knižnicu: </a:t>
            </a:r>
            <a:r>
              <a:rPr lang="sk" sz="1100" u="sng">
                <a:solidFill>
                  <a:schemeClr val="lt1"/>
                </a:solidFill>
              </a:rPr>
              <a:t>pip install “celá/cesta/k/su</a:t>
            </a:r>
            <a:r>
              <a:rPr lang="sk" sz="1100" u="sng">
                <a:solidFill>
                  <a:schemeClr val="lt1"/>
                </a:solidFill>
              </a:rPr>
              <a:t>boru.whl</a:t>
            </a:r>
            <a:r>
              <a:rPr lang="sk" sz="1100" u="sng">
                <a:solidFill>
                  <a:schemeClr val="lt1"/>
                </a:solidFill>
              </a:rPr>
              <a:t>”</a:t>
            </a:r>
            <a:r>
              <a:rPr lang="sk" sz="1100">
                <a:solidFill>
                  <a:schemeClr val="lt1"/>
                </a:solidFill>
              </a:rPr>
              <a:t> (všimnite si úvodzovky)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Vytvorte si </a:t>
            </a:r>
            <a:r>
              <a:rPr b="1" lang="sk" sz="1100" u="sng">
                <a:solidFill>
                  <a:schemeClr val="hlink"/>
                </a:solidFill>
                <a:hlinkClick r:id="rId3"/>
              </a:rPr>
              <a:t>main.py</a:t>
            </a:r>
            <a:r>
              <a:rPr lang="sk" sz="1100">
                <a:solidFill>
                  <a:schemeClr val="lt1"/>
                </a:solidFill>
              </a:rPr>
              <a:t>, naimportujte knižnicu (import spectra)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Použite funkcie, alebo si vyprintujte verziu: </a:t>
            </a:r>
            <a:r>
              <a:rPr b="1" lang="sk" sz="1100">
                <a:solidFill>
                  <a:schemeClr val="lt1"/>
                </a:solidFill>
              </a:rPr>
              <a:t>print(spectra.__version__)</a:t>
            </a:r>
            <a:endParaRPr b="1" sz="1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56" name="Google Shape;156;p27"/>
          <p:cNvSpPr txBox="1"/>
          <p:nvPr>
            <p:ph type="title"/>
          </p:nvPr>
        </p:nvSpPr>
        <p:spPr>
          <a:xfrm>
            <a:off x="7633675" y="462199"/>
            <a:ext cx="119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k" sz="1700">
                <a:solidFill>
                  <a:srgbClr val="F3F3F3"/>
                </a:solidFill>
              </a:rPr>
              <a:t>(5-10 min.)</a:t>
            </a:r>
            <a:endParaRPr sz="1700">
              <a:solidFill>
                <a:srgbClr val="F3F3F3"/>
              </a:solidFill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Vývojarská Empatia</a:t>
            </a:r>
            <a:endParaRPr b="1"/>
          </a:p>
        </p:txBody>
      </p:sp>
      <p:sp>
        <p:nvSpPr>
          <p:cNvPr id="162" name="Google Shape;162;p28"/>
          <p:cNvSpPr txBox="1"/>
          <p:nvPr/>
        </p:nvSpPr>
        <p:spPr>
          <a:xfrm>
            <a:off x="470225" y="1143000"/>
            <a:ext cx="4420200" cy="680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1800">
              <a:solidFill>
                <a:schemeClr val="dk2"/>
              </a:solidFill>
            </a:endParaRPr>
          </a:p>
        </p:txBody>
      </p:sp>
      <p:sp>
        <p:nvSpPr>
          <p:cNvPr id="163" name="Google Shape;163;p28"/>
          <p:cNvSpPr txBox="1"/>
          <p:nvPr/>
        </p:nvSpPr>
        <p:spPr>
          <a:xfrm>
            <a:off x="429350" y="1133475"/>
            <a:ext cx="7264500" cy="953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0D0D0D"/>
                </a:solidFill>
              </a:rPr>
              <a:t>Dva zvyky pre ktoré ťa budú mať ostatní radi:</a:t>
            </a:r>
            <a:endParaRPr sz="1800">
              <a:solidFill>
                <a:srgbClr val="0D0D0D"/>
              </a:solidFill>
            </a:endParaRPr>
          </a:p>
        </p:txBody>
      </p:sp>
      <p:sp>
        <p:nvSpPr>
          <p:cNvPr id="164" name="Google Shape;164;p28"/>
          <p:cNvSpPr txBox="1"/>
          <p:nvPr/>
        </p:nvSpPr>
        <p:spPr>
          <a:xfrm>
            <a:off x="549800" y="2126850"/>
            <a:ext cx="2915400" cy="28068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chemeClr val="lt1"/>
                </a:solidFill>
              </a:rPr>
              <a:t>def find_peaks(</a:t>
            </a:r>
            <a:endParaRPr sz="1800">
              <a:solidFill>
                <a:schemeClr val="lt1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chemeClr val="lt1"/>
                </a:solidFill>
              </a:rPr>
              <a:t>x</a:t>
            </a:r>
            <a:r>
              <a:rPr lang="sk" sz="1800">
                <a:solidFill>
                  <a:srgbClr val="F1C232"/>
                </a:solidFill>
              </a:rPr>
              <a:t>: list[float]</a:t>
            </a:r>
            <a:r>
              <a:rPr lang="sk" sz="1800">
                <a:solidFill>
                  <a:schemeClr val="lt1"/>
                </a:solidFill>
              </a:rPr>
              <a:t>, </a:t>
            </a:r>
            <a:endParaRPr sz="18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chemeClr val="lt1"/>
                </a:solidFill>
              </a:rPr>
              <a:t>y</a:t>
            </a:r>
            <a:r>
              <a:rPr lang="sk" sz="1800">
                <a:solidFill>
                  <a:srgbClr val="F1C232"/>
                </a:solidFill>
              </a:rPr>
              <a:t>: list[float]</a:t>
            </a:r>
            <a:endParaRPr sz="1800">
              <a:solidFill>
                <a:srgbClr val="F1C232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chemeClr val="lt1"/>
                </a:solidFill>
              </a:rPr>
              <a:t>) -&gt; list[tuple(float)]:</a:t>
            </a:r>
            <a:endParaRPr sz="18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9FC5E8"/>
                </a:solidFill>
              </a:rPr>
              <a:t>”””</a:t>
            </a:r>
            <a:endParaRPr sz="1800"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9FC5E8"/>
                </a:solidFill>
              </a:rPr>
              <a:t>popis funkcie</a:t>
            </a:r>
            <a:endParaRPr sz="1800">
              <a:solidFill>
                <a:srgbClr val="9FC5E8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9FC5E8"/>
                </a:solidFill>
              </a:rPr>
              <a:t>”””</a:t>
            </a:r>
            <a:endParaRPr sz="1800">
              <a:solidFill>
                <a:srgbClr val="9FC5E8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FCFCFC"/>
                </a:solidFill>
              </a:rPr>
              <a:t>pass</a:t>
            </a:r>
            <a:endParaRPr sz="1800">
              <a:solidFill>
                <a:srgbClr val="FCFCFC"/>
              </a:solidFill>
            </a:endParaRPr>
          </a:p>
          <a:p>
            <a:pPr indent="45720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FCFCFC"/>
                </a:solidFill>
              </a:rPr>
              <a:t>return [(0.0, 0.0)] </a:t>
            </a:r>
            <a:endParaRPr sz="1800">
              <a:solidFill>
                <a:srgbClr val="FCFCFC"/>
              </a:solidFill>
            </a:endParaRPr>
          </a:p>
        </p:txBody>
      </p:sp>
      <p:sp>
        <p:nvSpPr>
          <p:cNvPr id="165" name="Google Shape;165;p28"/>
          <p:cNvSpPr txBox="1"/>
          <p:nvPr/>
        </p:nvSpPr>
        <p:spPr>
          <a:xfrm>
            <a:off x="4289875" y="2202325"/>
            <a:ext cx="42174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0D0D0D"/>
                </a:solidFill>
              </a:rPr>
              <a:t>typehinty:</a:t>
            </a:r>
            <a:endParaRPr b="1" sz="1800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0D0D0D"/>
                </a:solidFill>
              </a:rPr>
              <a:t>čo je x? čo je y? čo funkcia vracia?</a:t>
            </a:r>
            <a:endParaRPr sz="1800">
              <a:solidFill>
                <a:srgbClr val="0D0D0D"/>
              </a:solidFill>
            </a:endParaRPr>
          </a:p>
        </p:txBody>
      </p:sp>
      <p:sp>
        <p:nvSpPr>
          <p:cNvPr id="166" name="Google Shape;166;p28"/>
          <p:cNvSpPr txBox="1"/>
          <p:nvPr/>
        </p:nvSpPr>
        <p:spPr>
          <a:xfrm>
            <a:off x="4340975" y="3316550"/>
            <a:ext cx="4217400" cy="1049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1800">
                <a:solidFill>
                  <a:srgbClr val="0D0D0D"/>
                </a:solidFill>
              </a:rPr>
              <a:t>docstring</a:t>
            </a:r>
            <a:r>
              <a:rPr b="1" lang="sk" sz="1800">
                <a:solidFill>
                  <a:srgbClr val="0D0D0D"/>
                </a:solidFill>
              </a:rPr>
              <a:t>:</a:t>
            </a:r>
            <a:endParaRPr b="1" sz="1800"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>
                <a:solidFill>
                  <a:srgbClr val="0D0D0D"/>
                </a:solidFill>
              </a:rPr>
              <a:t>ako sa funkcia správa</a:t>
            </a:r>
            <a:endParaRPr sz="1800">
              <a:solidFill>
                <a:srgbClr val="0D0D0D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0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Vývojarská Empatia</a:t>
            </a:r>
            <a:endParaRPr b="1"/>
          </a:p>
        </p:txBody>
      </p:sp>
      <p:pic>
        <p:nvPicPr>
          <p:cNvPr id="172" name="Google Shape;172;p29"/>
          <p:cNvPicPr preferRelativeResize="0"/>
          <p:nvPr/>
        </p:nvPicPr>
        <p:blipFill rotWithShape="1">
          <a:blip r:embed="rId3">
            <a:alphaModFix/>
          </a:blip>
          <a:srcRect b="59653" l="18120" r="42633" t="5466"/>
          <a:stretch/>
        </p:blipFill>
        <p:spPr>
          <a:xfrm>
            <a:off x="1960013" y="1266000"/>
            <a:ext cx="5223974" cy="26114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0B5394"/>
        </a:solidFill>
      </p:bgPr>
    </p:bg>
    <p:spTree>
      <p:nvGrpSpPr>
        <p:cNvPr id="176" name="Shape 1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7" name="Google Shape;177;p30"/>
          <p:cNvSpPr txBox="1"/>
          <p:nvPr>
            <p:ph type="title"/>
          </p:nvPr>
        </p:nvSpPr>
        <p:spPr>
          <a:xfrm>
            <a:off x="311700" y="445025"/>
            <a:ext cx="60168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 sz="2500">
                <a:solidFill>
                  <a:srgbClr val="FFFFFF"/>
                </a:solidFill>
              </a:rPr>
              <a:t>Cvičenie 4 | Pridaj Empatiu, verzia 0.2.0</a:t>
            </a:r>
            <a:endParaRPr sz="2500">
              <a:solidFill>
                <a:srgbClr val="FFFFFF"/>
              </a:solidFill>
            </a:endParaRPr>
          </a:p>
        </p:txBody>
      </p:sp>
      <p:sp>
        <p:nvSpPr>
          <p:cNvPr id="178" name="Google Shape;178;p30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Vyberte si jednu funkciu</a:t>
            </a:r>
            <a:endParaRPr sz="1100">
              <a:solidFill>
                <a:schemeClr val="lt1"/>
              </a:solidFill>
            </a:endParaRPr>
          </a:p>
          <a:p>
            <a:pPr indent="-298450" lvl="1" marL="9144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○"/>
            </a:pPr>
            <a:r>
              <a:rPr lang="sk" sz="1100">
                <a:solidFill>
                  <a:schemeClr val="lt1"/>
                </a:solidFill>
              </a:rPr>
              <a:t>pridajte docstring a typehinty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Vybuildujte to znovu (čo na Vás nakričal build?)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0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Fixnite to a skuste buildnuť znovu</a:t>
            </a:r>
            <a:endParaRPr sz="1100">
              <a:solidFill>
                <a:schemeClr val="lt1"/>
              </a:solidFill>
            </a:endParaRPr>
          </a:p>
          <a:p>
            <a:pPr indent="-298450" lvl="0" marL="457200" rtl="0" algn="l">
              <a:spcBef>
                <a:spcPts val="1200"/>
              </a:spcBef>
              <a:spcAft>
                <a:spcPts val="0"/>
              </a:spcAft>
              <a:buClr>
                <a:schemeClr val="lt1"/>
              </a:buClr>
              <a:buSzPts val="1100"/>
              <a:buChar char="●"/>
            </a:pPr>
            <a:r>
              <a:rPr lang="sk" sz="1100">
                <a:solidFill>
                  <a:schemeClr val="lt1"/>
                </a:solidFill>
              </a:rPr>
              <a:t>Nainštalujte si verziu 0.2.0 v projekte z cvičenia 3, cítite zlepšenie?</a:t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45720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100">
              <a:solidFill>
                <a:schemeClr val="lt1"/>
              </a:solidFill>
            </a:endParaRPr>
          </a:p>
        </p:txBody>
      </p:sp>
      <p:sp>
        <p:nvSpPr>
          <p:cNvPr id="179" name="Google Shape;179;p30"/>
          <p:cNvSpPr txBox="1"/>
          <p:nvPr>
            <p:ph type="title"/>
          </p:nvPr>
        </p:nvSpPr>
        <p:spPr>
          <a:xfrm>
            <a:off x="7633675" y="462199"/>
            <a:ext cx="11985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r>
              <a:rPr lang="sk" sz="1700">
                <a:solidFill>
                  <a:srgbClr val="F3F3F3"/>
                </a:solidFill>
              </a:rPr>
              <a:t>(5 min.)</a:t>
            </a:r>
            <a:endParaRPr sz="1700">
              <a:solidFill>
                <a:srgbClr val="F3F3F3"/>
              </a:solidFill>
            </a:endParaRPr>
          </a:p>
        </p:txBody>
      </p:sp>
      <p:sp>
        <p:nvSpPr>
          <p:cNvPr id="180" name="Google Shape;180;p30"/>
          <p:cNvSpPr txBox="1"/>
          <p:nvPr/>
        </p:nvSpPr>
        <p:spPr>
          <a:xfrm>
            <a:off x="6561375" y="1277475"/>
            <a:ext cx="1454100" cy="697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sk" sz="1100">
                <a:solidFill>
                  <a:schemeClr val="lt1"/>
                </a:solidFill>
              </a:rPr>
              <a:t>pip install build</a:t>
            </a:r>
            <a:endParaRPr i="1" sz="1100"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i="1" lang="sk" sz="1100">
                <a:solidFill>
                  <a:schemeClr val="lt1"/>
                </a:solidFill>
              </a:rPr>
              <a:t>python -m build </a:t>
            </a:r>
            <a:endParaRPr i="1" sz="1100">
              <a:solidFill>
                <a:schemeClr val="lt1"/>
              </a:solidFill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Upload na PyPI</a:t>
            </a:r>
            <a:endParaRPr b="1"/>
          </a:p>
        </p:txBody>
      </p:sp>
      <p:sp>
        <p:nvSpPr>
          <p:cNvPr id="186" name="Google Shape;186;p3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●"/>
            </a:pPr>
            <a:r>
              <a:rPr lang="sk">
                <a:solidFill>
                  <a:srgbClr val="0D0D0D"/>
                </a:solidFill>
              </a:rPr>
              <a:t>vytvorenie </a:t>
            </a:r>
            <a:r>
              <a:rPr lang="sk">
                <a:solidFill>
                  <a:srgbClr val="0D0D0D"/>
                </a:solidFill>
              </a:rPr>
              <a:t>účtu na Test PyPI indexe: </a:t>
            </a:r>
            <a:r>
              <a:rPr lang="sk" u="sng">
                <a:solidFill>
                  <a:srgbClr val="0D0D0D"/>
                </a:solid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https://test.pypi.org/</a:t>
            </a:r>
            <a:endParaRPr>
              <a:solidFill>
                <a:srgbClr val="0D0D0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●"/>
            </a:pPr>
            <a:r>
              <a:rPr lang="sk">
                <a:solidFill>
                  <a:srgbClr val="0D0D0D"/>
                </a:solidFill>
              </a:rPr>
              <a:t>potvrdenie emailu, 2F-Autentifikácia</a:t>
            </a:r>
            <a:endParaRPr>
              <a:solidFill>
                <a:srgbClr val="0D0D0D"/>
              </a:solidFill>
            </a:endParaRPr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ts val="1800"/>
              <a:buChar char="●"/>
            </a:pPr>
            <a:r>
              <a:rPr lang="sk">
                <a:solidFill>
                  <a:srgbClr val="0D0D0D"/>
                </a:solidFill>
              </a:rPr>
              <a:t>account settings -&gt; API Tokens -&gt; Add API Token</a:t>
            </a:r>
            <a:endParaRPr>
              <a:solidFill>
                <a:srgbClr val="0D0D0D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0" name="Shape 1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1" name="Google Shape;191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Upload na PyPI</a:t>
            </a:r>
            <a:endParaRPr b="1"/>
          </a:p>
        </p:txBody>
      </p:sp>
      <p:sp>
        <p:nvSpPr>
          <p:cNvPr id="192" name="Google Shape;192;p32"/>
          <p:cNvSpPr txBox="1"/>
          <p:nvPr/>
        </p:nvSpPr>
        <p:spPr>
          <a:xfrm>
            <a:off x="383400" y="1277471"/>
            <a:ext cx="8377200" cy="3410400"/>
          </a:xfrm>
          <a:prstGeom prst="rect">
            <a:avLst/>
          </a:prstGeom>
          <a:solidFill>
            <a:srgbClr val="434343"/>
          </a:solidFill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pip install twine</a:t>
            </a:r>
            <a:endParaRPr>
              <a:solidFill>
                <a:schemeClr val="lt1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</a:t>
            </a:r>
            <a:r>
              <a:rPr lang="sk">
                <a:solidFill>
                  <a:schemeClr val="lt1"/>
                </a:solidFill>
              </a:rPr>
              <a:t>twine check dist/*			</a:t>
            </a:r>
            <a:r>
              <a:rPr lang="sk">
                <a:solidFill>
                  <a:srgbClr val="6AA84F"/>
                </a:solidFill>
              </a:rPr>
              <a:t># kontrola pred uploadom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</a:t>
            </a:r>
            <a:r>
              <a:rPr lang="sk">
                <a:solidFill>
                  <a:srgbClr val="FCFCFC"/>
                </a:solidFill>
              </a:rPr>
              <a:t>twine upload --repository testpypi dist/*</a:t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rgbClr val="FCFCFC"/>
                </a:solidFill>
              </a:rPr>
              <a:t>…..</a:t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>
                <a:solidFill>
                  <a:srgbClr val="6AA84F"/>
                </a:solidFill>
              </a:rPr>
              <a:t>View at:</a:t>
            </a:r>
            <a:endParaRPr>
              <a:solidFill>
                <a:srgbClr val="6AA84F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sk">
                <a:solidFill>
                  <a:srgbClr val="FCFCFC"/>
                </a:solidFill>
              </a:rPr>
              <a:t>https://test.pypi.org/project/&lt;package-name&gt;/&lt;version&gt;/</a:t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rgbClr val="FCFCFC"/>
                </a:solidFill>
              </a:rPr>
              <a:t>……</a:t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solidFill>
                <a:srgbClr val="FCFCFC"/>
              </a:solidFill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sk">
                <a:solidFill>
                  <a:schemeClr val="lt1"/>
                </a:solidFill>
              </a:rPr>
              <a:t>(venv.) majirky@pc-adam spacelab_ss26 % </a:t>
            </a:r>
            <a:r>
              <a:rPr lang="sk">
                <a:solidFill>
                  <a:srgbClr val="FCFCFC"/>
                </a:solidFill>
              </a:rPr>
              <a:t>pip install --index-url https://test.pypi.org/simple/ &lt;package-name&gt;</a:t>
            </a:r>
            <a:endParaRPr sz="1600">
              <a:solidFill>
                <a:srgbClr val="FCFCFC"/>
              </a:solidFill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6" name="Shape 1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7" name="Google Shape;197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/>
              <a:t>Next Steps</a:t>
            </a:r>
            <a:endParaRPr b="1"/>
          </a:p>
        </p:txBody>
      </p:sp>
      <p:sp>
        <p:nvSpPr>
          <p:cNvPr id="198" name="Google Shape;198;p33"/>
          <p:cNvSpPr txBox="1"/>
          <p:nvPr>
            <p:ph idx="1" type="body"/>
          </p:nvPr>
        </p:nvSpPr>
        <p:spPr>
          <a:xfrm>
            <a:off x="311700" y="1152475"/>
            <a:ext cx="8520600" cy="3802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850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b="1" lang="sk">
                <a:solidFill>
                  <a:schemeClr val="dk1"/>
                </a:solidFill>
              </a:rPr>
              <a:t>Hrať sa s __init__.py</a:t>
            </a:r>
            <a:endParaRPr b="1">
              <a:solidFill>
                <a:schemeClr val="dk1"/>
              </a:solidFill>
            </a:endParaRPr>
          </a:p>
          <a:p>
            <a:pPr indent="-306864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k" sz="1450">
                <a:solidFill>
                  <a:schemeClr val="dk1"/>
                </a:solidFill>
              </a:rPr>
              <a:t>D</a:t>
            </a:r>
            <a:r>
              <a:rPr lang="sk" sz="1450">
                <a:solidFill>
                  <a:schemeClr val="dk1"/>
                </a:solidFill>
              </a:rPr>
              <a:t>ovo</a:t>
            </a:r>
            <a:r>
              <a:rPr lang="sk" sz="1450">
                <a:solidFill>
                  <a:schemeClr val="dk1"/>
                </a:solidFill>
              </a:rPr>
              <a:t>ľuje jednoduchšie importy funkcií</a:t>
            </a:r>
            <a:endParaRPr sz="1450">
              <a:solidFill>
                <a:schemeClr val="dk1"/>
              </a:solidFill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b="1" lang="sk">
                <a:solidFill>
                  <a:srgbClr val="0D0D0D"/>
                </a:solidFill>
                <a:uFill>
                  <a:noFill/>
                </a:uFill>
                <a:hlinkClick r:id="rId3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UV</a:t>
            </a:r>
            <a:endParaRPr b="1">
              <a:solidFill>
                <a:srgbClr val="0D0D0D"/>
              </a:solidFill>
            </a:endParaRPr>
          </a:p>
          <a:p>
            <a:pPr indent="-309563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sk" sz="1500">
                <a:solidFill>
                  <a:srgbClr val="0D0D0D"/>
                </a:solidFill>
              </a:rPr>
              <a:t>Rýchly</a:t>
            </a:r>
            <a:r>
              <a:rPr lang="sk" sz="1500">
                <a:solidFill>
                  <a:srgbClr val="0D0D0D"/>
                </a:solidFill>
              </a:rPr>
              <a:t> a moderný Python tooling,</a:t>
            </a:r>
            <a:r>
              <a:rPr lang="sk" sz="1500">
                <a:solidFill>
                  <a:srgbClr val="434343"/>
                </a:solidFill>
              </a:rPr>
              <a:t> </a:t>
            </a:r>
            <a:r>
              <a:rPr lang="sk" sz="1500" u="sng">
                <a:solidFill>
                  <a:schemeClr val="hlink"/>
                </a:solidFill>
                <a:hlinkClick r:id="rId4"/>
              </a:rPr>
              <a:t>https://docs.astral.sh/uv/</a:t>
            </a:r>
            <a:endParaRPr sz="1500" u="sng">
              <a:solidFill>
                <a:srgbClr val="2597A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t/>
            </a:r>
            <a:endParaRPr sz="1500" u="sng">
              <a:solidFill>
                <a:srgbClr val="2597A7"/>
              </a:solidFill>
            </a:endParaRPr>
          </a:p>
          <a:p>
            <a:pPr indent="0" lvl="0" marL="0" rtl="0" algn="l">
              <a:spcBef>
                <a:spcPts val="1000"/>
              </a:spcBef>
              <a:spcAft>
                <a:spcPts val="0"/>
              </a:spcAft>
              <a:buNone/>
            </a:pPr>
            <a:r>
              <a:rPr b="1" lang="sk">
                <a:solidFill>
                  <a:srgbClr val="0D0D0D"/>
                </a:solidFill>
                <a:highlight>
                  <a:srgbClr val="FFFFFF"/>
                </a:highlight>
              </a:rPr>
              <a:t>Pozrieť sa na lintery a formátovače pre Python</a:t>
            </a:r>
            <a:endParaRPr b="1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9563" lvl="0" marL="457200" rtl="0" algn="l">
              <a:spcBef>
                <a:spcPts val="30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sk" sz="1500">
                <a:solidFill>
                  <a:srgbClr val="0D0D0D"/>
                </a:solidFill>
                <a:highlight>
                  <a:srgbClr val="FFFFFF"/>
                </a:highlight>
              </a:rPr>
              <a:t>Nastaviť ich v pyproject.toml, 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Clr>
                <a:srgbClr val="0D0D0D"/>
              </a:buClr>
              <a:buSzPct val="100000"/>
              <a:buChar char="●"/>
            </a:pPr>
            <a:r>
              <a:rPr lang="sk" sz="1500">
                <a:solidFill>
                  <a:srgbClr val="0D0D0D"/>
                </a:solidFill>
                <a:highlight>
                  <a:srgbClr val="FFFFFF"/>
                </a:highlight>
              </a:rPr>
              <a:t>Automatizovať kontrolu kvality a formátovanie kódu v projekte</a:t>
            </a:r>
            <a:endParaRPr sz="1500">
              <a:solidFill>
                <a:srgbClr val="0D0D0D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t/>
            </a:r>
            <a:endParaRPr sz="1500">
              <a:solidFill>
                <a:srgbClr val="434343"/>
              </a:solidFill>
              <a:highlight>
                <a:srgbClr val="FFFFFF"/>
              </a:highlight>
            </a:endParaRPr>
          </a:p>
          <a:p>
            <a:pPr indent="0" lvl="0" marL="0" rtl="0" algn="l">
              <a:spcBef>
                <a:spcPts val="300"/>
              </a:spcBef>
              <a:spcAft>
                <a:spcPts val="0"/>
              </a:spcAft>
              <a:buNone/>
            </a:pPr>
            <a:r>
              <a:rPr b="1" lang="sk">
                <a:solidFill>
                  <a:srgbClr val="000000"/>
                </a:solidFill>
              </a:rPr>
              <a:t>Prax, prax, prax</a:t>
            </a:r>
            <a:endParaRPr b="1">
              <a:solidFill>
                <a:srgbClr val="000000"/>
              </a:solidFill>
            </a:endParaRPr>
          </a:p>
          <a:p>
            <a:pPr indent="-309563" lvl="0" marL="45720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k" sz="1500">
                <a:solidFill>
                  <a:schemeClr val="dk1"/>
                </a:solidFill>
              </a:rPr>
              <a:t>Research repo: </a:t>
            </a:r>
            <a:r>
              <a:rPr lang="sk" sz="1500" u="sng">
                <a:solidFill>
                  <a:srgbClr val="2597A7"/>
                </a:solidFill>
                <a:hlinkClick r:id="rId5">
                  <a:extLst>
                    <a:ext uri="{A12FA001-AC4F-418D-AE19-62706E023703}">
                      <ahyp:hlinkClr val="tx"/>
                    </a:ext>
                  </a:extLst>
                </a:hlinkClick>
              </a:rPr>
              <a:t>https://github.com/wongkinyiu/yolov9</a:t>
            </a:r>
            <a:endParaRPr sz="1500">
              <a:solidFill>
                <a:srgbClr val="2597A7"/>
              </a:solidFill>
            </a:endParaRPr>
          </a:p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k" sz="1500">
                <a:solidFill>
                  <a:schemeClr val="dk1"/>
                </a:solidFill>
              </a:rPr>
              <a:t>Nadizajnovať funkcie pre trénovanie a inferenciu modelu</a:t>
            </a:r>
            <a:endParaRPr sz="1500">
              <a:solidFill>
                <a:schemeClr val="dk1"/>
              </a:solidFill>
            </a:endParaRPr>
          </a:p>
          <a:p>
            <a:pPr indent="-309563" lvl="0" marL="45720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ct val="100000"/>
              <a:buChar char="●"/>
            </a:pPr>
            <a:r>
              <a:rPr lang="sk" sz="1500">
                <a:solidFill>
                  <a:schemeClr val="dk1"/>
                </a:solidFill>
              </a:rPr>
              <a:t>Zabaliť a publikovať</a:t>
            </a:r>
            <a:endParaRPr>
              <a:solidFill>
                <a:schemeClr val="dk1"/>
              </a:solidFill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p34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sk" sz="3600"/>
              <a:t>Otázky?</a:t>
            </a:r>
            <a:endParaRPr b="1" sz="3600"/>
          </a:p>
        </p:txBody>
      </p:sp>
      <p:sp>
        <p:nvSpPr>
          <p:cNvPr id="204" name="Google Shape;204;p34"/>
          <p:cNvSpPr txBox="1"/>
          <p:nvPr>
            <p:ph idx="1" type="subTitle"/>
          </p:nvPr>
        </p:nvSpPr>
        <p:spPr>
          <a:xfrm>
            <a:off x="2922900" y="4483525"/>
            <a:ext cx="3298200" cy="529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sk" sz="1800"/>
              <a:t>amajirsky@gmail.com</a:t>
            </a:r>
            <a:endParaRPr sz="1800"/>
          </a:p>
        </p:txBody>
      </p:sp>
      <p:pic>
        <p:nvPicPr>
          <p:cNvPr id="205" name="Google Shape;205;p34" title="uef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889873" y="166373"/>
            <a:ext cx="942425" cy="9424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06" name="Google Shape;206;p34" title="spacelab.jpe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11699" y="166374"/>
            <a:ext cx="942425" cy="94244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